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51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Position RMSE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(m)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C2-480D-A317-190CF117ED41}"/>
              </c:ext>
            </c:extLst>
          </c:dPt>
          <c:dPt>
            <c:idx val="1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C2-480D-A317-190CF117ED41}"/>
              </c:ext>
            </c:extLst>
          </c:dPt>
          <c:dPt>
            <c:idx val="2"/>
            <c:invertIfNegative val="0"/>
            <c:bubble3D val="0"/>
            <c:spPr>
              <a:solidFill>
                <a:srgbClr val="F4B9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C2-480D-A317-190CF117ED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Raw IMU Dead Reckoning</c:v>
                </c:pt>
                <c:pt idx="1">
                  <c:v>PINN + EKF (Test 1)</c:v>
                </c:pt>
                <c:pt idx="2">
                  <c:v>PINN + EKF (Altitude Corrected)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2957</c:v>
                </c:pt>
                <c:pt idx="1">
                  <c:v>53181</c:v>
                </c:pt>
                <c:pt idx="2">
                  <c:v>26547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C2-480D-A317-190CF117ED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96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67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8321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PINN-Aided Gravity Anomaly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Matching for GNSS-Denied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Inertial Navigation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 508 · Machine Learning and Computational Physics · Spring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Hojung Lim    ·    Souvik Chatterjee    ·    Kenneth Tseng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206240"/>
            <a:ext cx="832104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2976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82296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jamming, underwater missions, and space operations make GNSS unavailable — yet precise navigation is still required.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12848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212848"/>
            <a:ext cx="82296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2768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The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IMU-only dead reckoning accumulates unbounded drift due to sensor bias and noise, quickly rendering position estimates useless.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57016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57016"/>
            <a:ext cx="82296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210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Why Gravity?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41064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gravity field varies spatially. Matching onboard gravimeter readings to a pre-learned PINN map provides position-fixing without any external signal.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868680"/>
            <a:ext cx="434340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9326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66360" y="9601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δg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1298448"/>
            <a:ext cx="4069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PINN on GGMplus data to predict residual gravity anomaly δg from position (lat, lon, alt).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212848"/>
            <a:ext cx="434340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22768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66360" y="23042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Innovation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2642616"/>
            <a:ext cx="4069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PINN prediction to onboard gravimeter reading to form an EKF innovation term ν.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3557016"/>
            <a:ext cx="434340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362102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66360" y="36484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INS Drift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17720" y="3986784"/>
            <a:ext cx="40690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EKF — with Jacobian H computed via autograd — to suppress IMU dead-reckoning error without GNSS.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9319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86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EQUATIONS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B942"/>
                </a:solidFill>
              </a:rPr>
              <a:t>Predict Step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x̂ₖ|ₖ₋₁ = F x̂ₖ₋₁|ₖ₋₁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Pₖ|ₖ₋₁ = F Pₖ₋₁|ₖ₋₁ Fᵀ + Q</a:t>
            </a:r>
            <a:endParaRPr lang="en-US" sz="12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4B942"/>
                </a:solidFill>
              </a:rPr>
              <a:t>Update Step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νₖ = δg_meas − δg_PINN(x̂ₖ|ₖ₋₁)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Kₖ = Pₖ|ₖ₋₁ Hᵀ (H Pₖ|ₖ₋₁ Hᵀ + R)⁻¹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x̂ₖ|ₖ = x̂ₖ|ₖ₋₁ + Kₖ νₖ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Pₖ|ₖ = (I − Kₖ H) Pₖ|ₖ₋₁</a:t>
            </a:r>
            <a:endParaRPr lang="en-US" sz="12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0C9A7"/>
                </a:solidFill>
              </a:rPr>
              <a:t>H = ∇ₓ δg_PINN  (via autograd — no manual derivation)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822960"/>
            <a:ext cx="43434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ARCHITECTURE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3931920" cy="658368"/>
          </a:xfrm>
          <a:prstGeom prst="rect">
            <a:avLst/>
          </a:prstGeom>
          <a:solidFill>
            <a:srgbClr val="2196C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3350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627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(lat, lon, alt)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956816"/>
            <a:ext cx="0" cy="16459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121408"/>
            <a:ext cx="3931920" cy="658368"/>
          </a:xfrm>
          <a:prstGeom prst="rect">
            <a:avLst/>
          </a:prstGeom>
          <a:solidFill>
            <a:srgbClr val="1B6CA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21579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Dense 64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4505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+ Skip connections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2779776"/>
            <a:ext cx="0" cy="164592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944368"/>
            <a:ext cx="3931920" cy="658368"/>
          </a:xfrm>
          <a:prstGeom prst="rect">
            <a:avLst/>
          </a:prstGeom>
          <a:solidFill>
            <a:srgbClr val="00C9A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9809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273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(mGal)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776472"/>
            <a:ext cx="91440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3813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16,961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6A7"/>
                </a:solidFill>
              </a:rPr>
              <a:t>Params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3776472"/>
            <a:ext cx="91440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0" y="3813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4 layers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6A7"/>
                </a:solidFill>
              </a:rPr>
              <a:t>× 64 neurons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3776472"/>
            <a:ext cx="91440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3813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Tanh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6A7"/>
                </a:solidFill>
              </a:rPr>
              <a:t>Activation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80960" y="3776472"/>
            <a:ext cx="91440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680960" y="3813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Skip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6A7"/>
                </a:solidFill>
              </a:rPr>
              <a:t>Connections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&amp; Training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393192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86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 L_data + λ · L_physics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L_data  (Absolute + Relative Error)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absolute error and relative error to prevent low-altitude bias — surface gravity is much larger than at altitude, so absolute error alone would overweight the ground level.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0662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L_physics  (Laplacian Constraint)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∇²(δg) = 0 at collocation points — the Laplace equation for gravity in free space. Prevents overfitting and ensures physical consistency.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69417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Condition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68496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δg(r) = ω_NN(r)·δg_NN(r) + ω_BC(r)·δg_BC(r)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blend — no separate BC loss term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822960"/>
            <a:ext cx="43434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8869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6280" y="1298448"/>
            <a:ext cx="1371600" cy="9144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26280" y="1344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32,768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17373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(64×64 grid × 8 alt levels)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89320" y="1298448"/>
            <a:ext cx="1371600" cy="9144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1344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89320" y="17373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Relative Error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0.30% paper benchmark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52360" y="1298448"/>
            <a:ext cx="1371600" cy="9144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13441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17373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Epochs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0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lr=2⁻⁸, λ=10⁻³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7720" y="235000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70448" y="235000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GGMplus N30W120 tile (USC Campus, 34.02°N 118.29°W)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73405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0448" y="27340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uniform grid × 8 altitude levels (0–200 m)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11810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70448" y="31181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fitted to local USC subgrid (Test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full tile range (Test 2) — this difference is key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35021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70448" y="3502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(22,937) / 15% val (4,915) / 15% test (4,916)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38862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70448" y="3886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lr = 2⁻⁸ · batch = 512 · λ = 10⁻³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42702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70448" y="42702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PINN-GM-III (Martin &amp; Schaub, 2025)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Training Results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7360920" cy="158877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 (mGal)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MAE (mGal)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Rel. Error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USC δg Pred.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USC Error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Test 2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(tile norm.)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0.5300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0.2821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0.31%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−95.39 mGal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16.27 mGal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Test 1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</a:rPr>
                        <a:t>(local norm.)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0.2434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0.1383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0.20% ✓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−79.30 mGal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</a:rPr>
                        <a:t>0.19 mGal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PINN-GM-III</a:t>
                      </a:r>
                      <a:endParaRPr lang="en-US" sz="1050" dirty="0"/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(benchmark)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0.30%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2313432"/>
            <a:ext cx="8503920" cy="475488"/>
          </a:xfrm>
          <a:prstGeom prst="rect">
            <a:avLst/>
          </a:prstGeom>
          <a:solidFill>
            <a:srgbClr val="FFF8DC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3"/>
          <p:cNvSpPr/>
          <p:nvPr/>
        </p:nvSpPr>
        <p:spPr>
          <a:xfrm>
            <a:off x="320040" y="2313432"/>
            <a:ext cx="82296" cy="47548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475488" y="2313432"/>
            <a:ext cx="8275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Normalization scope is critical — local USC subgrid scaler (Test 1) achieves 16× lower prediction error than tile-wide normalization (Test 2). Relative error 0.20% beats the PINN-GM-III benchmark of 0.30%.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288036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Scatter (RMSE = 0.2434 mGal)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327355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True δg tightly clusters along the perfect-prediction line.
Residual histogram is sharply peaked at 0 with tail &lt; ±2 mGal.
USC origin prediction error: </a:t>
            </a: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 mGal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confirms EKF Jacobian validity.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2880360"/>
            <a:ext cx="4206240" cy="192024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Free-Air Altitude Correction (Altitude Model)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5488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GGMplus provides surface-level data only — all altitudes read the same δg at a given (lat, lon). To address this: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3767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Δg_corrected = Δg_GGMplus − 0.3086 × alt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54880" y="4114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free-air correction (0.3086 mGal/m) restores altitude-dependent variation in training data.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Navigation Results &amp;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7772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777240"/>
            <a:ext cx="4251960" cy="2743200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0916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09160" y="1234440"/>
            <a:ext cx="397764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2710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 Signal Too Weak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527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varies only 0.047 mGal over the 1.5 km path. Gravimeter noise = 0.5 mGal → SNR = 0.09.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984248"/>
            <a:ext cx="397764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20208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System Unobservable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2276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Hₓ = 2.5×10⁻⁵, H_z = 4.1×10⁻⁵ mGal/m → Kalman gain K ≈ 0 in East &amp; Up axes. EKF update is ineffective.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2734056"/>
            <a:ext cx="397764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2770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PINN: Working Correctly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6320" y="3026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0.20% prediction error + valid Jacobians confirmed. Architecture is sound — limitation is the test region's flat gravity field.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639312"/>
            <a:ext cx="8503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639312"/>
            <a:ext cx="82296" cy="11887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3675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395935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correction halved EKF RMSE (53,181 m → 26,547 m), confirming altitude-dependent variation improves observability. </a:t>
            </a: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Redesign trajectory over high-gradient terrain  (2) Navigation-grade gravimeter (~0.01 mGal, SNR &gt; 1)  (3) Use gradiometer (full 3D gradient)  (4) Fuse with other non-GNSS sensors for full observability.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970</Words>
  <Application>Microsoft Office PowerPoint</Application>
  <PresentationFormat>화면 슬라이드 쇼(16:9)</PresentationFormat>
  <Paragraphs>135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PINN-Aided Gravity Anomaly Map Matching</dc:title>
  <dc:subject>PptxGenJS Presentation</dc:subject>
  <dc:creator>PptxGenJS</dc:creator>
  <cp:lastModifiedBy>Hojung Lim</cp:lastModifiedBy>
  <cp:revision>1</cp:revision>
  <dcterms:created xsi:type="dcterms:W3CDTF">2026-05-10T04:58:52Z</dcterms:created>
  <dcterms:modified xsi:type="dcterms:W3CDTF">2026-05-10T05:06:20Z</dcterms:modified>
</cp:coreProperties>
</file>